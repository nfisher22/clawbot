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941832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 &amp; W Properties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59A3C"/>
                </a:solidFill>
                <a:latin typeface="Calibri"/>
              </a:defRPr>
            </a:pPr>
            <a:r>
              <a:t>2026 Budget &amp; Valuation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Long View  •  On Broad  •  Roxster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Prepared by Mr. Soul CFO  |  March 16,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  <a:latin typeface="Calibri"/>
              </a:defRPr>
            </a:pPr>
            <a:r>
              <a:t>Peak 10 Group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Purpose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▸  Present the 2026 operating budgets for three F &amp; W Properties: Long View, On Broad, and Roxster.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▸  Summarize each property's projected income, expenses, net operating income (NOI), debt service, and capital expenditure plans.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▸  Provide income-approach valuation estimates at a 7.5% capitalization rate for each asset.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▸  Highlight key financial risks and opportunities across the portfolio.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4A"/>
                </a:solidFill>
                <a:latin typeface="Calibri"/>
              </a:defRPr>
            </a:pPr>
            <a:r>
              <a:t>▸  Equip stakeholders with the data needed for capital allocation, refinancing, and disposition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Portfolio Summary — 2026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Long View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 Broad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Roxster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Portfolio Total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Operating Income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$1,139,628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$647,792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$1,335,287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$3,122,706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Operating Expense (Adj.)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$725,582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$381,368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$706,633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$1,813,582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Net Operating Income (Adj.)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$414,046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$266,424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$628,654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$1,309,124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Debt Service (Interest)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$160,949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$173,518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$219,199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$553,666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Capital Expenditures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$330,000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$27,000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$341,000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$698,000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Cash Flow After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-$76,903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-$27,211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$44,987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-$59,126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Est. Value (7.5% Cap)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$5,520,614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$3,552,320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$8,382,055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$17,454,989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All figures are annualized 2026 budgeted amounts. Adjusted columns reflect payroll and admin reallocation.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Long View — 1728-1738 E. Long St., Columbus, OH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Rents (Net)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$1,051,236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Fee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$21,516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Other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$24,732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Utility Reimbursement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$42,144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Total Operating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$1,139,628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EXPENSES (ADJUSTED)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Administrative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$78,966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Payroll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51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$179,374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$75,924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Repairs &amp;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$160,764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Property Tax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2120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$138,276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321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Property Insurance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5321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$32,292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52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Professional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$59,986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72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Total Operating Expense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1721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$725,582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Net Operating Income (Adj.)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$414,046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Mortgage Interest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4A4A"/>
                </a:solidFill>
                <a:latin typeface="Calibri"/>
              </a:defRPr>
            </a:pPr>
            <a:r>
              <a:t>$160,949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Cash Flow Before CapEx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$253,097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Capital Expenditures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$330,000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Cash Flow After CapEx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-$76,903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CAPITAL EXPENDITURE 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Roofing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$318,000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Flooring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$12,000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3949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A4A"/>
                </a:solidFill>
                <a:latin typeface="Calibri"/>
              </a:defRPr>
            </a:pPr>
            <a:r>
              <a:t>Total CapEx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53949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A4A4A"/>
                </a:solidFill>
                <a:latin typeface="Calibri"/>
              </a:defRPr>
            </a:pPr>
            <a:r>
              <a:t>$330,000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62828"/>
                </a:solidFill>
                <a:latin typeface="Calibri"/>
              </a:defRPr>
            </a:pPr>
            <a:r>
              <a:t>⚠ Heavy CapEx in Q1-Q2 drives negative annual cash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On Broad — 1544, 1550 &amp; 1560 E. Broad St., Columbus, OH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Rents (Net)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$611,288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Fee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$6,888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Other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$6,156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Utility Reimbursement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$23,460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Total Operating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$647,792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EXPENSES (ADJUSTED)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Administrative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$17,691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Payroll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51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$88,892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$45,108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Repairs &amp;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$93,528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Property Tax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2120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$69,156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321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Property Insurance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5321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$31,500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52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Professional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$35,493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72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Total Operating Expense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1721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$381,368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Net Operating Income (Adj.)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$266,424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Mortgage Interest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4A4A"/>
                </a:solidFill>
                <a:latin typeface="Calibri"/>
              </a:defRPr>
            </a:pPr>
            <a:r>
              <a:t>$173,518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Principal Reduction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4A4A"/>
                </a:solidFill>
                <a:latin typeface="Calibri"/>
              </a:defRPr>
            </a:pPr>
            <a:r>
              <a:t>$93,116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Cash Flow Before CapEx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-$211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Capital Expenditures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$27,000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Cash Flow After CapEx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-$27,211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CAPITAL EXPENDITURE PLAN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Electrical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$27,000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A4A"/>
                </a:solidFill>
                <a:latin typeface="Calibri"/>
              </a:defRPr>
            </a:pPr>
            <a:r>
              <a:t>Total CapEx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A4A4A"/>
                </a:solidFill>
                <a:latin typeface="Calibri"/>
              </a:defRPr>
            </a:pPr>
            <a:r>
              <a:t>$27,000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62828"/>
                </a:solidFill>
                <a:latin typeface="Calibri"/>
              </a:defRPr>
            </a:pPr>
            <a:r>
              <a:t>⚠ Debt service nearly consumes NOI. Cash flow is essentially break-even before CapEx.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Roxster — 1571-1619 Roxbury Rd., Grandview Heights, OH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Rents (Net)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$1,274,267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Fee Income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48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$10,356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Other Income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$9,264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Utility Reimbursement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$41,400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Total Operating Income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$1,335,287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EXPENSES (ADJUSTED)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Administrative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$37,473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Payroll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51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$265,055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$74,088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Repairs &amp; Maintenance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$168,516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Property Tax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2120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$41,448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321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Property Insurance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5321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$43,896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52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Professional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8521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$76,157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721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Calibri"/>
              </a:defRPr>
            </a:pPr>
            <a:r>
              <a:t>Total Operating Expense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1721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$706,633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Net Operating Income (Adj.)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1828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$628,654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Mortgage Interest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4A4A"/>
                </a:solidFill>
                <a:latin typeface="Calibri"/>
              </a:defRPr>
            </a:pPr>
            <a:r>
              <a:t>$219,199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Principal Reduction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4A4A4A"/>
                </a:solidFill>
                <a:latin typeface="Calibri"/>
              </a:defRPr>
            </a:pPr>
            <a:r>
              <a:t>$23,468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Cash Flow Before CapEx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$385,987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Capital Expenditures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C62828"/>
                </a:solidFill>
                <a:latin typeface="Calibri"/>
              </a:defRPr>
            </a:pPr>
            <a:r>
              <a:t>$341,000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4A4A"/>
                </a:solidFill>
                <a:latin typeface="Calibri"/>
              </a:defRPr>
            </a:pPr>
            <a:r>
              <a:t>Cash Flow After CapEx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$44,987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CAPITAL EXPENDITURE PLAN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Roofing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$225,000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Electrical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$100,000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8521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Painting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852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$10,000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61721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Labor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61721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4A4A4A"/>
                </a:solidFill>
                <a:latin typeface="Calibri"/>
              </a:defRPr>
            </a:pPr>
            <a:r>
              <a:t>$6,000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6492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A4A"/>
                </a:solidFill>
                <a:latin typeface="Calibri"/>
              </a:defRPr>
            </a:pPr>
            <a:r>
              <a:t>Total CapEx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6492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A4A4A"/>
                </a:solidFill>
                <a:latin typeface="Calibri"/>
              </a:defRPr>
            </a:pPr>
            <a:r>
              <a:t>$341,000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7D32"/>
                </a:solidFill>
                <a:latin typeface="Calibri"/>
              </a:defRPr>
            </a:pPr>
            <a:r>
              <a:t>✓ Strongest performer. Positive cash flow even after $341K CapEx.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Valuation Summary — Income Approach (7.5% Cap Rate)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463040"/>
          <a:ext cx="9418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Long View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 Broad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Roxster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Portfolio Total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Adjusted NOI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$414,046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$266,424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$628,654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$1,309,124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Cap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Estimated 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$5,520,614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$3,552,320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$8,382,055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$17,454,989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Estimated Debt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-$4,550,000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-$3,524,000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-$5,200,000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-$13,274,000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Closing Costs (3%)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-$165,618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-$106,570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-$251,462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-$523,650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Cash Needs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Estimated Residual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$804,995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C62828"/>
                          </a:solidFill>
                          <a:latin typeface="Calibri"/>
                        </a:defRPr>
                      </a:pPr>
                      <a:r>
                        <a:t>-$78,250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$2,930,593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$3,657,339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Observations: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623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▸  Roxster holds 48% of portfolio value ($8.4M) and generates the strongest residual at $2.93M.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943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▸  On Broad shows negative residual (-$78K) — debt is near asset value. Refinancing or value-add strategy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263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▸  Combined portfolio estimated residual: $3,657,339 across all three properties.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Operating Expense Ratio &amp; NOI Margin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463040"/>
          <a:ext cx="9418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Long View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 Broad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Roxster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Operating Income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$1,139,628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$647,792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$1,335,287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Operating Expense (Adj.)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$725,582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$381,368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$706,633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Calibri"/>
                        </a:defRPr>
                      </a:pPr>
                      <a:r>
                        <a:t>Expense Ratio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63.7%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52.9%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NOI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E7D32"/>
                          </a:solidFill>
                          <a:latin typeface="Calibri"/>
                        </a:defRPr>
                      </a:pPr>
                      <a:r>
                        <a:t>47.1%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0233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Takeaway: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480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  <a:latin typeface="Calibri"/>
              </a:defRPr>
            </a:pPr>
            <a:r>
              <a:t>Roxster operates most efficiently at 52.9% expense ratio / 47.1% NOI margin. Long View's 63.7% expense ratio is the highest, driven by elevated payroll ($179K adj.) and repairs &amp; maintenance ($161K). On Broad sits in the middle but its high debt service effectively eliminates free cash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44752"/>
            <a:ext cx="13716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Portfolio NOI: $1,309,124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Combined adjusted NOI across all three properties. Portfolio value estimated at $17.45M.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21992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$698,000 in Capital Expenditures Planned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Roofing ($543K) and electrical ($127K) are the largest components. Majority hits Q1-Q2.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99232"/>
            <a:ext cx="13716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Roxster is the Portfolio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46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Highest NOI ($628,654), best NOI margin (47.1%), only property with positive cash flow after CapEx ($44,987).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76472"/>
            <a:ext cx="137160" cy="137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7033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On Broad: Negative Equity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233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Estimated residual of -$78,250. Debt ($3.52M) nearly matches estimated value ($3.55M). LTV ~99%.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53712"/>
            <a:ext cx="137160" cy="137160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5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Long View: Strong NOI but CapEx-Heavy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0059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NOI of $414K is solid, but $330K in roofing and flooring CapEx drives -$77K cash flow after CapEx.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330951"/>
            <a:ext cx="137160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25779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A4A"/>
                </a:solidFill>
                <a:latin typeface="Calibri"/>
              </a:defRPr>
            </a:pPr>
            <a:r>
              <a:t>Portfolio Residual: $3,657,339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778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If all three assets were sold at estimated values after paying off debt and closing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18320" cy="36576"/>
          </a:xfrm>
          <a:prstGeom prst="rect">
            <a:avLst/>
          </a:prstGeom>
          <a:solidFill>
            <a:srgbClr val="C5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1.  Review and approve 2026 capital expenditure plans, particularly the $543K in roofing across Long View and Roxster.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65176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2.  Evaluate refinancing options for On Broad given the ~99% LTV and negative equity 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3.  Monitor Roxster's rent increases (2% effective July 2026) for absorption and vacancy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93192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4.  Assess Long View's payroll adjustments ($70K reduction) to confirm operational coverage remains adequate.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57200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5.  Consider disposition analysis for On Broad if refinancing terms are unfavorable.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21208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6.  Schedule Q2 2026 budget vs. actuals review to track CapEx timing and cash flow variances.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  <a:latin typeface="Calibri"/>
              </a:defRPr>
            </a:pPr>
            <a:r>
              <a:t>F &amp; W Properties Inc.  |  Peak 10 Group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