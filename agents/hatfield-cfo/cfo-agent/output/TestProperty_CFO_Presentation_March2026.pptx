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 &amp; W Properties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2CC"/>
                </a:solidFill>
              </a:defRPr>
            </a:pPr>
            <a:r>
              <a:t>March 2026 Budget &amp; Valuation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Test Property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</a:defRPr>
            </a:pPr>
            <a:r>
              <a:t>Prepared by Mr. Soul CFO  |  March 17,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Peak 10 Group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Purpose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Present March 2026 monthly budget performance for Test Property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Analyze NOI, debt service coverage, and annual cash flow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Valuation analysis using income capitalization approach (NOI ÷ Cap Rate)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Identify key risks including HVAC replacement and tax reassessment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Highlight opportunities: rent increases, solar grant, adjacent parcel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Provide decision framework for CFO review and action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</a:defRPr>
            </a:pPr>
            <a:r>
              <a:t>Peak 10 Group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Portfolio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Income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Expenses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NOI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Debt Service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Cash Flow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Est. Value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Test 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$492,000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$314,813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$177,188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$84,375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$92,813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$2,362,500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Note: Values reflect 2026 annual budget. NOI adjusted for normalized R&amp;M and vacancy reserve.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</a:defRPr>
            </a:pPr>
            <a:r>
              <a:t>Peak 10 Group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Test Property —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2CC"/>
                </a:solidFill>
              </a:defRPr>
            </a:pPr>
            <a:r>
              <a:t>123 Main Street, Anytown, USA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1945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Income Line Item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Annual Budget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Rent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$438,000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Fee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$26,400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Utility Reimbursements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$27,600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Total Operating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$492,000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28016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Expense Line Item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Annual Budget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Payroll &amp; 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$102,000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Repairs &amp;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$60,000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Taxes &amp; Insurance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$78,000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Management &amp;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$74,813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Total Operating Expense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$314,813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5B6"/>
                </a:solidFill>
              </a:defRPr>
            </a:pPr>
            <a:r>
              <a:t>KEY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NOI: $177,188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Mortgage Interest: $65,625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Principal Reduction: $18,750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Cash Flow Before CapEx: $92,813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Cash Flow After CapEx: $57,813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5B6"/>
                </a:solidFill>
              </a:defRPr>
            </a:pPr>
            <a:r>
              <a:t>CAPITAL EXPENDITURE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HVAC Replacement (Bldg A): $35,000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Total CapEx: $35,000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00"/>
                </a:solidFill>
              </a:defRPr>
            </a:pPr>
            <a:r>
              <a:t>✓ Cash flow positive after all debt service and CapEx — property is self-sustaining.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</a:defRPr>
            </a:pPr>
            <a:r>
              <a:t>Peak 10 Group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Valuation Summary — Income Approach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NOI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Cap Rate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Est. Value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Debt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Equity Residual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Test 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$177,188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$2,362,500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$1,250,000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$1,112,500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5B6"/>
                </a:solidFill>
              </a:defRPr>
            </a:pPr>
            <a:r>
              <a:t>Key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Property value of $2.36M based on 7.50% cap rate applied to adjusted annual NOI of $177K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Equity residual of $1.11M after deducting $1.25M mortgage 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Sensitivity range: equity from ~$625K (stress) to ~$2.0M (upside) across tested cap 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• Debt-to-value ratio of 52.9% — within conservative lending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</a:defRPr>
            </a:pPr>
            <a:r>
              <a:t>Peak 10 Group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Operating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2CC"/>
                </a:solidFill>
              </a:defRPr>
            </a:pPr>
            <a:r>
              <a:t>Test Property —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Expense Ratio: 64.0% (Total Expenses / Total Income)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NOI Margin: 36.0% (NOI / Total Income)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Debt Service Coverage Ratio: 2.10x (NOI / Total Debt Service)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Cash-on-Cash Return: 7.4% (Cash Flow / Estimated Equity)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Key Takeaway: Test Property operates within healthy financial parameters with strong debt coverage and positive cash flow generation.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</a:defRPr>
            </a:pPr>
            <a:r>
              <a:t>Peak 10 Group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</a:defRPr>
            </a:pPr>
            <a:r>
              <a:t>$177,188 Adjusted Annual NOI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642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</a:defRPr>
            </a:pPr>
            <a:r>
              <a:t>Exceeds budget by 18.0% on annualized March actuals basis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</a:defRPr>
            </a:pPr>
            <a:r>
              <a:t>100% Occupancy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042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</a:defRPr>
            </a:pPr>
            <a:r>
              <a:t>Third consecutive month — 12 of 12 units occupied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</a:defRPr>
            </a:pPr>
            <a:r>
              <a:t>$2.36M Estimated Property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44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</a:defRPr>
            </a:pPr>
            <a:r>
              <a:t>Income approach at 7.50% cap rate; equity of $1.11M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</a:defRPr>
            </a:pPr>
            <a:r>
              <a:t>$57,813 Cash Flow After CapEx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844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</a:defRPr>
            </a:pPr>
            <a:r>
              <a:t>Self-sustaining operations with $35K HVAC replacement funded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</a:defRPr>
            </a:pPr>
            <a:r>
              <a:t>2.10x Debt Service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24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</a:defRPr>
            </a:pPr>
            <a:r>
              <a:t>Comfortably exceeds 1.25x lender covenant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</a:defRPr>
            </a:pPr>
            <a:r>
              <a:t>4.1% YoY Rent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646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</a:defRPr>
            </a:pPr>
            <a:r>
              <a:t>Driven by $50/unit average increase effective January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</a:defRPr>
            </a:pPr>
            <a:r>
              <a:t>Peak 10 Group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1.  Approve $35,000 HVAC replacement CapEx — deadline April 15,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2.  Review and approve Q2 lease renewal terms (3.5% proposed increase)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3.  Evaluate mortgage refinancing options (current rate 5.25%)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4.  Review solar panel grant application before April 30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5.  Initiate preliminary due diligence on adjacent parcel 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6.  Schedule Q2 budget review meeting for mid-May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5B6"/>
                </a:solidFill>
              </a:defRPr>
            </a:pPr>
            <a:r>
              <a:t>Test Property continues to perform well. With proactive capital planning and rent optimization, the property is positioned to exceed 2026 budget targets.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</a:defRPr>
            </a:pPr>
            <a:r>
              <a:t>F &amp; W Properties Inc.  |  Peak 10 Group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